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9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36576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48640"/>
            <a:ext cx="82296" cy="822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475488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" y="438912"/>
            <a:ext cx="36576" cy="3657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31168" y="6492240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84864" y="6583680"/>
            <a:ext cx="54864" cy="548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77472" y="6419088"/>
            <a:ext cx="36576" cy="3657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005840"/>
            <a:ext cx="11247120" cy="521208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005840"/>
            <a:ext cx="11247120" cy="822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6144768"/>
            <a:ext cx="11247120" cy="8229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12" y="1152144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>
                <a:solidFill>
                  <a:srgbClr val="00D4FF"/>
                </a:solidFill>
              </a:rPr>
              <a:t>AI-Powered Comparison of IT Programs
Across Ontario Colleges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dirty="0">
                <a:solidFill>
                  <a:srgbClr val="E8F6FF"/>
                </a:solidFill>
              </a:rPr>
              <a:t>Interim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8F6FF"/>
                </a:solidFill>
              </a:rPr>
              <a:t>Capstone Project   |   Group 3   |   March 8,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AACCEE"/>
                </a:solidFill>
              </a:rPr>
              <a:t>Amit Sharma  ·  Ahemadashraf Pathan  ·  Sahil Varudi  ·  Sahil Jajadiya  ·  Deepesh Dixit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9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36576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48640"/>
            <a:ext cx="82296" cy="822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475488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" y="438912"/>
            <a:ext cx="36576" cy="3657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31168" y="6492240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84864" y="6583680"/>
            <a:ext cx="54864" cy="548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77472" y="6419088"/>
            <a:ext cx="36576" cy="3657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</a:rPr>
              <a:t>Agenda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0972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01  Problem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6916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02  Project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2860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03  Dataset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8036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04  Exploratory Data Analysis  (EDA)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0972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05  Challenges  &amp;  Solutions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6916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06  Remaining Work  &amp;  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860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07  Individual Contributions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8036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08  Conclusion  &amp; 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9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36576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48640"/>
            <a:ext cx="82296" cy="822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475488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" y="438912"/>
            <a:ext cx="36576" cy="3657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31168" y="6492240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84864" y="6583680"/>
            <a:ext cx="54864" cy="548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77472" y="6419088"/>
            <a:ext cx="36576" cy="3657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</a:rPr>
              <a:t>Problem Statement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309558"/>
            <a:ext cx="3749039" cy="132588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1280160"/>
            <a:ext cx="374903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137160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Fragmented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1691640"/>
            <a:ext cx="35661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E8F6FF"/>
                </a:solidFill>
              </a:rPr>
              <a:t>Each Ontario college has its own website with no unified view of IT programs.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1280160"/>
            <a:ext cx="3749039" cy="132588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51959" y="1280160"/>
            <a:ext cx="374903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61687" y="137160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No Side-by-Side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7" y="1691640"/>
            <a:ext cx="35661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F"/>
                </a:solidFill>
              </a:rPr>
              <a:t>Students must manually open dozens of tabs to compare Credential type, duration, delivery format and skills.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0727" y="1365799"/>
            <a:ext cx="3611882" cy="1240241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10726" y="1291959"/>
            <a:ext cx="374903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6" y="137160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Advisor Difficulty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6" y="1691640"/>
            <a:ext cx="35661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F"/>
                </a:solidFill>
              </a:rPr>
              <a:t>Academic advisors lack a structured view of how programs cluster by skill area.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788920"/>
            <a:ext cx="3749039" cy="132588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2788920"/>
            <a:ext cx="374903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" y="28803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Recruiter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3200400"/>
            <a:ext cx="35661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F"/>
                </a:solidFill>
              </a:rPr>
              <a:t>No public resource maps which colleges produce graduates with specific tech skills.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59" y="2788920"/>
            <a:ext cx="3749039" cy="132588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51959" y="2788920"/>
            <a:ext cx="374903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61687" y="28803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Policy Blind Spot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1687" y="3200400"/>
            <a:ext cx="35661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F"/>
                </a:solidFill>
              </a:rPr>
              <a:t>Regional distribution of IT program supply is not compiled or visualised anywhere.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9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36576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48640"/>
            <a:ext cx="82296" cy="822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475488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" y="438912"/>
            <a:ext cx="36576" cy="3657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31168" y="6492240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84864" y="6583680"/>
            <a:ext cx="54864" cy="548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77472" y="6419088"/>
            <a:ext cx="36576" cy="3657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</a:rPr>
              <a:t>Project Objectives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325880"/>
            <a:ext cx="5394960" cy="100584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1325880"/>
            <a:ext cx="384048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1581912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371600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Unified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728216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E8F6FF"/>
                </a:solidFill>
              </a:rPr>
              <a:t>3,273 records, 26 colleges, 14 fields — credential type, duration, delivery, description.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325880"/>
            <a:ext cx="5394960" cy="100584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89320" y="1325880"/>
            <a:ext cx="384048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07608" y="1581912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371600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Smart 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728216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E8F6FF"/>
                </a:solidFill>
              </a:rPr>
              <a:t>ML-powered engine that matches a student profile to ranked programs.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478024"/>
            <a:ext cx="5394960" cy="100584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2478024"/>
            <a:ext cx="384048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9768" y="2734056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523744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Advisor Cluster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880360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E8F6FF"/>
                </a:solidFill>
              </a:rPr>
              <a:t>Programs grouped by skill area so advisors instantly see all related offerings.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2478024"/>
            <a:ext cx="5394960" cy="100584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89320" y="2478024"/>
            <a:ext cx="384048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07608" y="2734056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523744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College Benchmarking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880360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E8F6FF"/>
                </a:solidFill>
              </a:rPr>
              <a:t>Side-by-side comparison of program count, credentials, and skill coverage.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630168"/>
            <a:ext cx="5394960" cy="100584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11480" y="3630168"/>
            <a:ext cx="384048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9768" y="388620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675888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Recruiter Search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032504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E8F6FF"/>
                </a:solidFill>
              </a:rPr>
              <a:t>Keyword → colleges ranked by how many matching programs they offer.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3630168"/>
            <a:ext cx="5394960" cy="100584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989320" y="3630168"/>
            <a:ext cx="384048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07608" y="388620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675888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Policy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032504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E8F6FF"/>
                </a:solidFill>
              </a:rPr>
              <a:t>Regional map of IT program supply — where the programs are vs. where the demand is.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80" y="4782312"/>
            <a:ext cx="5394960" cy="100584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383280" y="4782312"/>
            <a:ext cx="384048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01568" y="5038344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86200" y="482803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Full Web Platform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86200" y="5184648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E8F6FF"/>
                </a:solidFill>
              </a:rPr>
              <a:t>Browser-based app, FastAPI backend, all six views accessible without installation.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9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36576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48640"/>
            <a:ext cx="82296" cy="822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475488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" y="438912"/>
            <a:ext cx="36576" cy="3657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31168" y="6492240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84864" y="6583680"/>
            <a:ext cx="54864" cy="548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77472" y="6419088"/>
            <a:ext cx="36576" cy="3657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</a:rPr>
              <a:t>Dataset Overview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234440"/>
            <a:ext cx="2651760" cy="128016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1234440"/>
            <a:ext cx="26517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344168"/>
            <a:ext cx="26517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4200" b="1" dirty="0">
                <a:solidFill>
                  <a:srgbClr val="00D4FF"/>
                </a:solidFill>
              </a:rPr>
              <a:t>2039</a:t>
            </a:r>
            <a:endParaRPr sz="4200" b="1" dirty="0">
              <a:solidFill>
                <a:srgbClr val="00D4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F6FF"/>
                </a:solidFill>
              </a:rPr>
              <a:t>Total Programs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234440"/>
            <a:ext cx="2651760" cy="128016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46120" y="1234440"/>
            <a:ext cx="26517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46120" y="1344168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0D4FF"/>
                </a:solidFill>
              </a:rPr>
              <a:t>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F6FF"/>
                </a:solidFill>
              </a:rPr>
              <a:t>Colleges Covered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234440"/>
            <a:ext cx="2651760" cy="128016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35040" y="1234440"/>
            <a:ext cx="26517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0" y="1344168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0D4FF"/>
                </a:solidFill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F6FF"/>
                </a:solidFill>
              </a:rPr>
              <a:t>Credential Types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1234440"/>
            <a:ext cx="2651760" cy="128016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823960" y="1234440"/>
            <a:ext cx="26517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23960" y="1344168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0D4FF"/>
                </a:solidFill>
              </a:rPr>
              <a:t>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F6FF"/>
                </a:solidFill>
              </a:rPr>
              <a:t>Fields per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D4FF"/>
                </a:solidFill>
              </a:rPr>
              <a:t>14 Key Fields Collected: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200400"/>
            <a:ext cx="2606040" cy="457200"/>
          </a:xfrm>
          <a:prstGeom prst="rect">
            <a:avLst/>
          </a:prstGeom>
          <a:solidFill>
            <a:srgbClr val="0C1E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3246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college_name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73552" y="3200400"/>
            <a:ext cx="2606040" cy="457200"/>
          </a:xfrm>
          <a:prstGeom prst="rect">
            <a:avLst/>
          </a:prstGeom>
          <a:solidFill>
            <a:srgbClr val="0C1E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83280" y="3246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campus_name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9904" y="3200400"/>
            <a:ext cx="2606040" cy="457200"/>
          </a:xfrm>
          <a:prstGeom prst="rect">
            <a:avLst/>
          </a:prstGeom>
          <a:solidFill>
            <a:srgbClr val="0C1E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99632" y="3246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program_name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06256" y="3200400"/>
            <a:ext cx="2606040" cy="457200"/>
          </a:xfrm>
          <a:prstGeom prst="rect">
            <a:avLst/>
          </a:prstGeom>
          <a:solidFill>
            <a:srgbClr val="0C1E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15984" y="3246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credential_type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730752"/>
            <a:ext cx="2606040" cy="457200"/>
          </a:xfrm>
          <a:prstGeom prst="rect">
            <a:avLst/>
          </a:prstGeom>
          <a:solidFill>
            <a:srgbClr val="0C1E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6928" y="37764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credential_group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73552" y="3730752"/>
            <a:ext cx="2606040" cy="457200"/>
          </a:xfrm>
          <a:prstGeom prst="rect">
            <a:avLst/>
          </a:prstGeom>
          <a:solidFill>
            <a:srgbClr val="0C1E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83280" y="37764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duration_months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9904" y="3730752"/>
            <a:ext cx="2606040" cy="457200"/>
          </a:xfrm>
          <a:prstGeom prst="rect">
            <a:avLst/>
          </a:prstGeom>
          <a:solidFill>
            <a:srgbClr val="0C1E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99632" y="37764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duration_years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06256" y="3730752"/>
            <a:ext cx="2606040" cy="457200"/>
          </a:xfrm>
          <a:prstGeom prst="rect">
            <a:avLst/>
          </a:prstGeom>
          <a:solidFill>
            <a:srgbClr val="0C1E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15984" y="37764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program_category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261104"/>
            <a:ext cx="2606040" cy="457200"/>
          </a:xfrm>
          <a:prstGeom prst="rect">
            <a:avLst/>
          </a:prstGeom>
          <a:solidFill>
            <a:srgbClr val="0C1E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6928" y="430682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delivery_format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73552" y="4261104"/>
            <a:ext cx="2606040" cy="457200"/>
          </a:xfrm>
          <a:prstGeom prst="rect">
            <a:avLst/>
          </a:prstGeom>
          <a:solidFill>
            <a:srgbClr val="0C1E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383280" y="430682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source_url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9904" y="4261104"/>
            <a:ext cx="2606040" cy="457200"/>
          </a:xfrm>
          <a:prstGeom prst="rect">
            <a:avLst/>
          </a:prstGeom>
          <a:solidFill>
            <a:srgbClr val="0C1E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99632" y="430682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details_url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06256" y="4261104"/>
            <a:ext cx="2606040" cy="457200"/>
          </a:xfrm>
          <a:prstGeom prst="rect">
            <a:avLst/>
          </a:prstGeom>
          <a:solidFill>
            <a:srgbClr val="0C1E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015984" y="430682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program_level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791456"/>
            <a:ext cx="2606040" cy="457200"/>
          </a:xfrm>
          <a:prstGeom prst="rect">
            <a:avLst/>
          </a:prstGeom>
          <a:solidFill>
            <a:srgbClr val="0C1E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66928" y="483717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program_length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73552" y="4791456"/>
            <a:ext cx="2606040" cy="457200"/>
          </a:xfrm>
          <a:prstGeom prst="rect">
            <a:avLst/>
          </a:prstGeom>
          <a:solidFill>
            <a:srgbClr val="0C1E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383280" y="483717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program_description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9ABC"/>
                </a:solidFill>
              </a:rPr>
              <a:t>Source: Ontario Colleges portal + individual college websites   |   Dedup key: college + campus + program + code + intake + start 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9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36576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48640"/>
            <a:ext cx="82296" cy="822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475488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" y="438912"/>
            <a:ext cx="36576" cy="3657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31168" y="6492240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84864" y="6583680"/>
            <a:ext cx="54864" cy="548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77472" y="6419088"/>
            <a:ext cx="36576" cy="3657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</a:rPr>
              <a:t>EDA — Data Quality &amp; Program Categories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486400" cy="356616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5760720" cy="35661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74320" y="4846320"/>
            <a:ext cx="5486400" cy="182880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4846320"/>
            <a:ext cx="64008" cy="1828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491947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Data Quality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266944"/>
            <a:ext cx="52120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6FF"/>
                </a:solidFill>
              </a:rPr>
              <a:t>• duration_months &amp; duration_years have ~40% missing values — converted to NaN, NOT dropped
• Missing durations assigned a neutral score so programs still surface if skills &amp; goals match
• program_description is 100% complete — the primary input for future NLP skill extraction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846320"/>
            <a:ext cx="5760720" cy="182880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0" y="4846320"/>
            <a:ext cx="64008" cy="1828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491947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Program Category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266944"/>
            <a:ext cx="55778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6FF"/>
                </a:solidFill>
              </a:rPr>
              <a:t>• Computer Science / IT is the single dominant category — expected and confirms correct data scope
• Business Technology &amp; Information Systems form meaningful secondary clusters
• No large off-topic categories visible — the 17-term IT keyword filter worked correctly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9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36576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48640"/>
            <a:ext cx="82296" cy="822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475488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" y="438912"/>
            <a:ext cx="36576" cy="3657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31168" y="6492240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84864" y="6583680"/>
            <a:ext cx="54864" cy="548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77472" y="6419088"/>
            <a:ext cx="36576" cy="3657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</a:rPr>
              <a:t>EDA — Credential Types &amp; Delivery Formats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521440" cy="384048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4320" y="5074920"/>
            <a:ext cx="11521440" cy="160020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5074920"/>
            <a:ext cx="64008" cy="1600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514807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What This Chart Tells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04688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6FF"/>
                </a:solidFill>
              </a:rPr>
              <a:t>• Ontario Diploma is the most common credential — the primary IT pathway for school leavers entering a 2-year program
• Ontario Graduate Certificate (Post-grad) is the second largest — significant for degree holders or career changers upskilling
• Bachelor's degrees and Ontario Advanced Diplomas exist but are a small fraction — only select colleges offer degree-level IT
• Short Certificates are least common; colleges clearly favour multi-semester comprehensive programs over micro-credentials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9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36576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48640"/>
            <a:ext cx="82296" cy="822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475488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" y="438912"/>
            <a:ext cx="36576" cy="3657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31168" y="6492240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84864" y="6583680"/>
            <a:ext cx="54864" cy="548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77472" y="6419088"/>
            <a:ext cx="36576" cy="3657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</a:rPr>
              <a:t>EDA — How Programs Are Delivered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521440" cy="384048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4320" y="5074920"/>
            <a:ext cx="11521440" cy="160020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5074920"/>
            <a:ext cx="64008" cy="1600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514807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What This Chart Tells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04688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6FF"/>
                </a:solidFill>
              </a:rPr>
              <a:t>• Full-Time in-person is dominant — over 60% of programs require physical attendance at a campus
• Online and Hybrid programs are more prevalent than expected, reflecting post-pandemic adaptation by Ontario colleges
• Part-time offerings are limited but important for working professionals seeking to upskill without leaving employment
• Delivery format is captured as a first-class filter in the recommendation engine — students explicitly specify their preference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9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36576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48640"/>
            <a:ext cx="82296" cy="822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475488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" y="438912"/>
            <a:ext cx="36576" cy="3657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31168" y="6492240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84864" y="6583680"/>
            <a:ext cx="54864" cy="548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77472" y="6419088"/>
            <a:ext cx="36576" cy="3657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</a:rPr>
              <a:t>EDA — Program Duration Analysis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521440" cy="384048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4320" y="5074920"/>
            <a:ext cx="11521440" cy="160020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5074920"/>
            <a:ext cx="64008" cy="1600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514807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What This Chart Tells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04688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6FF"/>
                </a:solidFill>
              </a:rPr>
              <a:t>• Median program duration is ~24 months — consistent with the 2-year Ontario College Diploma standard
• Distribution is bimodal: a cluster at 12 months (Graduate Certificates, short certs) and another at 24 months (diplomas)
• Bachelor’s degree programs form a long right tail extending to 36–48 months
• Box plot confirms Graduate Certificates are shortest; Ontario Advanced Diplomas and Bachelor’s are longest — useful for student filtering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9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36576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48640"/>
            <a:ext cx="82296" cy="822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475488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" y="438912"/>
            <a:ext cx="36576" cy="3657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31168" y="6492240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84864" y="6583680"/>
            <a:ext cx="54864" cy="548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77472" y="6419088"/>
            <a:ext cx="36576" cy="3657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</a:rPr>
              <a:t>EDA — Program Distribution Across Colleges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521440" cy="384048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4320" y="5074920"/>
            <a:ext cx="11521440" cy="160020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5074920"/>
            <a:ext cx="64008" cy="1600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514807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What This Chart Tells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04688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6FF"/>
                </a:solidFill>
              </a:rPr>
              <a:t>• GTA colleges (Seneca, George Brown, Centennial, Humber) dominate — together ~35% of all IT programs in the dataset
• Sharp drop-off after the top 5; smaller colleges in Northern and Eastern Ontario offer far fewer programs
• Geographic concentration is a policy concern: students outside the GTA have significantly fewer local options
• Our recommendation engine includes preferred region as a scoring factor to surface relevant programs near the student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9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36576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48640"/>
            <a:ext cx="82296" cy="822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475488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" y="438912"/>
            <a:ext cx="36576" cy="3657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31168" y="6492240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84864" y="6583680"/>
            <a:ext cx="54864" cy="548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77472" y="6419088"/>
            <a:ext cx="36576" cy="3657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</a:rPr>
              <a:t>EDA — College × Program Category Heatmap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521440" cy="384048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4320" y="5074920"/>
            <a:ext cx="11521440" cy="160020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5074920"/>
            <a:ext cx="64008" cy="1600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514807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What This Chart Tells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04688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6FF"/>
                </a:solidFill>
              </a:rPr>
              <a:t>• Darker cells = higher program count; broad-spectrum colleges (Seneca, George Brown) show uniformly dark rows
• Some colleges have concentrated hot-spots in specific categories (e.g. strong in Networking or Cybersecurity)
• Lighter rows reveal narrow-focus colleges — fewer categories and fewer programs per category
• This heatmap directly informs the College Benchmarking view on the web platform — advisors use it to see specialisation patterns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9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36576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48640"/>
            <a:ext cx="82296" cy="822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475488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" y="438912"/>
            <a:ext cx="36576" cy="3657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31168" y="6492240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84864" y="6583680"/>
            <a:ext cx="54864" cy="548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77472" y="6419088"/>
            <a:ext cx="36576" cy="3657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</a:rPr>
              <a:t>EDA — Skill Keywords &amp; Delivery Mix by College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352044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97280"/>
            <a:ext cx="5669280" cy="35204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74320" y="4754880"/>
            <a:ext cx="5669280" cy="192024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4754880"/>
            <a:ext cx="64008" cy="1920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482803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Skill Keyword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175504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6FF"/>
                </a:solidFill>
              </a:rPr>
              <a:t>• 'data', 'security' and 'software' appear in the most descriptions — core Ontario IT curriculum pillars
• Modern keywords like 'cloud', 'devops', 'ai' and 'analytics' signal curriculum modernisation
• 'blockchain' and 'iot' are underrepresented — niche and not yet mainstream in Ontario college syllabi
• Keyword frequencies seed the NLP skill extraction pipeline for the next sprint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754880"/>
            <a:ext cx="5669280" cy="192024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4754880"/>
            <a:ext cx="64008" cy="1920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482803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Delivery Mix by College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175504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6FF"/>
                </a:solidFill>
              </a:rPr>
              <a:t>• Delivery mix varies substantially — some colleges are near 100% in-person; others offer 30%+ online
• Online-heavy colleges tend to serve a broader geography, reaching students outside the GTA
• This variability justifies delivery format as a first-class recommendation filter — not just a nice-to-have
• Colleges with strong hybrid presence are better positioned for the growing demand for flexible learning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9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36576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48640"/>
            <a:ext cx="82296" cy="822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475488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" y="438912"/>
            <a:ext cx="36576" cy="3657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31168" y="6492240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84864" y="6583680"/>
            <a:ext cx="54864" cy="548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77472" y="6419088"/>
            <a:ext cx="36576" cy="3657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</a:rPr>
              <a:t>Challenges &amp; How We Addressed Them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280160"/>
            <a:ext cx="11247120" cy="91440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1280160"/>
            <a:ext cx="64008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1325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</a:rPr>
              <a:t>Inconsistent Vocabulary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6824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6FF"/>
                </a:solidFill>
              </a:rPr>
              <a:t>Challenge: Every college used different strings for the same value (e.g. 'Full Time' vs 'FT').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371600"/>
            <a:ext cx="5577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E8C8"/>
                </a:solidFill>
              </a:rPr>
              <a:t>Solution: Normalization function: lowercase + strip punctuation + collapse whitespace before any comparison.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304288"/>
            <a:ext cx="11247120" cy="91440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2304288"/>
            <a:ext cx="64008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2350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</a:rPr>
              <a:t>Duration Nulls (~40%)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70662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6FF"/>
                </a:solidFill>
              </a:rPr>
              <a:t>Challenge: Large share of rows had 'Not Available' for duration — couldn't drop or fabricate.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395728"/>
            <a:ext cx="5577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E8C8"/>
                </a:solidFill>
              </a:rPr>
              <a:t>Solution: Programs with null duration receive a neutral score on the duration component; still surface if skills match.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328416"/>
            <a:ext cx="11247120" cy="91440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328416"/>
            <a:ext cx="64008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3741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</a:rPr>
              <a:t>Defining 'IT'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730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6FF"/>
                </a:solidFill>
              </a:rPr>
              <a:t>Challenge: Raw data included all faculties: health, hospitality, business.  'IT' is fuzzy at the edges.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419856"/>
            <a:ext cx="5577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E8C8"/>
                </a:solidFill>
              </a:rPr>
              <a:t>Solution: 17-term keyword filter validated by manual sampling; consistent if not perfect.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52544"/>
            <a:ext cx="11247120" cy="91440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4352544"/>
            <a:ext cx="64008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43982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</a:rPr>
              <a:t>Growing app.js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754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6FF"/>
                </a:solidFill>
              </a:rPr>
              <a:t>Challenge: Without a framework, the JS file grew large as features were added.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443984"/>
            <a:ext cx="5577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E8C8"/>
                </a:solidFill>
              </a:rPr>
              <a:t>Solution: Split into sections with comment headers; each section follows the same fetch → render pattern.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376672"/>
            <a:ext cx="11247120" cy="91440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5376672"/>
            <a:ext cx="64008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54223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</a:rPr>
              <a:t>Team Coordination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7790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6FF"/>
                </a:solidFill>
              </a:rPr>
              <a:t>Challenge: API changes silently broke the frontend; 5 people across 4 components needed clearer ownership.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5468112"/>
            <a:ext cx="5577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E8C8"/>
                </a:solidFill>
              </a:rPr>
              <a:t>Solution: Explicit Jira task ownership + API-change communication rule before any merge.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9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36576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48640"/>
            <a:ext cx="82296" cy="822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475488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" y="438912"/>
            <a:ext cx="36576" cy="3657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31168" y="6492240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84864" y="6583680"/>
            <a:ext cx="54864" cy="548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77472" y="6419088"/>
            <a:ext cx="36576" cy="3657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</a:rPr>
              <a:t>Work Remaining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280160"/>
            <a:ext cx="5486400" cy="1611212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1280160"/>
            <a:ext cx="548640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1371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755648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E8F6FF"/>
                </a:solidFill>
              </a:rPr>
              <a:t>• KMeans clustering on feature vectors (replace hand-coded skill groups)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231136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E8F6FF"/>
                </a:solidFill>
              </a:rPr>
              <a:t>• Random Forest / XGBoost classifier for student–program fit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2548669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E8F6FF"/>
                </a:solidFill>
              </a:rPr>
              <a:t>• Sentence-BERT semantic similarity (stretch goal)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280160"/>
            <a:ext cx="5486400" cy="1335024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280160"/>
            <a:ext cx="548640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1371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NLP Skill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755648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E8F6FF"/>
                </a:solidFill>
              </a:rPr>
              <a:t>• spaCy pipeline to extract structured skills from program descriptions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2132912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E8F6FF"/>
                </a:solidFill>
              </a:rPr>
              <a:t>• Replace keyword overlap with real skill-to-skill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4" y="3426542"/>
            <a:ext cx="5486400" cy="1545336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3474720"/>
            <a:ext cx="548640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566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Model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950208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E8F6FF"/>
                </a:solidFill>
              </a:rPr>
              <a:t>• Clustering: silhouette score + manual cluster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242816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E8F6FF"/>
                </a:solidFill>
              </a:rPr>
              <a:t>• Classifier: accuracy / precision / recall / F1 / AUC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" y="4550467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E8F6FF"/>
                </a:solidFill>
              </a:rPr>
              <a:t>• Recommendations: NDCG and hit-rate @ K on gold-standard profiles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474720"/>
            <a:ext cx="5486400" cy="1545336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3474720"/>
            <a:ext cx="548640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3566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950208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E8F6FF"/>
                </a:solidFill>
              </a:rPr>
              <a:t>• Unit tests per API endpoint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9944" y="4230132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E8F6FF"/>
                </a:solidFill>
              </a:rPr>
              <a:t>• End-to-end recommendation flow tests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7940" y="4498848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E8F6FF"/>
                </a:solidFill>
              </a:rPr>
              <a:t>• Edge cases: empty input / unknown region / extreme duration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51212" y="5467620"/>
            <a:ext cx="5486400" cy="1170923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Rectangle 38"/>
          <p:cNvSpPr/>
          <p:nvPr/>
        </p:nvSpPr>
        <p:spPr>
          <a:xfrm>
            <a:off x="3383280" y="5435617"/>
            <a:ext cx="548640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74720" y="5574595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00D4FF"/>
                </a:solidFill>
              </a:rPr>
              <a:t>Final Documentation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42652" y="5838936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E8F6FF"/>
                </a:solidFill>
              </a:rPr>
              <a:t>• Swagger schema descriptions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4364" y="606611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E8F6FF"/>
                </a:solidFill>
              </a:rPr>
              <a:t>• Updated architecture diagram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4364" y="6291908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E8F6FF"/>
                </a:solidFill>
              </a:rPr>
              <a:t>• User guide per persona  +  final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9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36576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48640"/>
            <a:ext cx="82296" cy="822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475488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" y="438912"/>
            <a:ext cx="36576" cy="3657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31168" y="6492240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84864" y="6583680"/>
            <a:ext cx="54864" cy="548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77472" y="6419088"/>
            <a:ext cx="36576" cy="3657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</a:rPr>
              <a:t>Timeline &amp; Milestones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188720"/>
            <a:ext cx="685800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224018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0D1C"/>
                </a:solidFill>
              </a:rPr>
              <a:t>Milestone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188720"/>
            <a:ext cx="411480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126187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0D1C"/>
                </a:solidFill>
              </a:rPr>
              <a:t>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700784"/>
            <a:ext cx="6858000" cy="475488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1728216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Milestone 1 — Proposal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1664208"/>
            <a:ext cx="4114800" cy="475488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79" y="1728216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Completed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167128"/>
            <a:ext cx="6858000" cy="47548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2203704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Milestone 2 — Technical Planning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139696"/>
            <a:ext cx="4114800" cy="47548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79" y="2203704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Completed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615184"/>
            <a:ext cx="6858000" cy="475488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2679192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Data Collection &amp; Cleaning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2615184"/>
            <a:ext cx="4114800" cy="475488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79" y="2679192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Completed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090672"/>
            <a:ext cx="6858000" cy="47548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154680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EDA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3090672"/>
            <a:ext cx="4114800" cy="47548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79" y="3154680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Completed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566160"/>
            <a:ext cx="6858000" cy="475488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3630168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Backend API (rule-based)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3566160"/>
            <a:ext cx="4114800" cy="475488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79" y="3630168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Completed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041648"/>
            <a:ext cx="6858000" cy="47548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4105656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Frontend Web App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4041648"/>
            <a:ext cx="4114800" cy="47548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98079" y="4105656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Completed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517136"/>
            <a:ext cx="6858000" cy="475488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4581144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ML Model Development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4517136"/>
            <a:ext cx="4114800" cy="475488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98079" y="4581144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In Progress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4992624"/>
            <a:ext cx="6858000" cy="47548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5056632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NLP Skill Extraction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0" y="4992624"/>
            <a:ext cx="4114800" cy="47548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98079" y="5056632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09ABC"/>
                </a:solidFill>
              </a:rPr>
              <a:t>Not Started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5468112"/>
            <a:ext cx="6858000" cy="475488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2920" y="5532120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Model Evaluation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06640" y="5468112"/>
            <a:ext cx="4114800" cy="475488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79" y="5532120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09ABC"/>
                </a:solidFill>
              </a:rPr>
              <a:t>Not Started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5943600"/>
            <a:ext cx="6858000" cy="47548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6007608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06640" y="5943600"/>
            <a:ext cx="4114800" cy="47548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498079" y="6007608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09ABC"/>
                </a:solidFill>
              </a:rPr>
              <a:t>Not Started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6419088"/>
            <a:ext cx="6858000" cy="475488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02920" y="6483096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Final Report &amp; Presentation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06640" y="6419088"/>
            <a:ext cx="4114800" cy="475488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498079" y="6483096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09ABC"/>
                </a:solidFill>
              </a:rPr>
              <a:t>Not Started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9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22608" y="0"/>
            <a:ext cx="36576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48640"/>
            <a:ext cx="82296" cy="822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475488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" y="438912"/>
            <a:ext cx="36576" cy="3657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31168" y="6492240"/>
            <a:ext cx="82296" cy="8229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84864" y="6583680"/>
            <a:ext cx="54864" cy="5486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77472" y="6419088"/>
            <a:ext cx="36576" cy="3657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</a:rPr>
              <a:t>Conclusion &amp; Next Steps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234440"/>
            <a:ext cx="11247120" cy="1554480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1234440"/>
            <a:ext cx="112471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1325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6FF"/>
                </a:solidFill>
              </a:rPr>
              <a:t>We're ahead of where we expected to be at this point.  The platform is functional end-to-end: a clean 3,273-record dataset, a working FastAPI backend with eight endpoints, a full frontend with seven views including visualisations and an AI chatbot, and a comprehensive EDA.  The rule-based recommendation engine gives reasonable results and served its purpose as a v1 scaffold.  The next phase — replacing it with trained ML models and adding NLP-based skill extraction — is the harder lift, but the groundwork is in place.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971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D4FF"/>
                </a:solidFill>
              </a:rPr>
              <a:t>Next Steps: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83280"/>
            <a:ext cx="5532120" cy="566928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383280"/>
            <a:ext cx="54864" cy="5669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4198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Sprint 1 (next)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5760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F"/>
                </a:solidFill>
              </a:rPr>
              <a:t>Train KMeans clustering model on program feature vectors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383280"/>
            <a:ext cx="5532120" cy="566928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3383280"/>
            <a:ext cx="54864" cy="5669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34198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Sprint 1 (next)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65760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F"/>
                </a:solidFill>
              </a:rPr>
              <a:t>Implement spaCy NLP pipeline for structured skill extraction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023360"/>
            <a:ext cx="5532120" cy="566928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4023360"/>
            <a:ext cx="54864" cy="5669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4059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Sprint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29768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F"/>
                </a:solidFill>
              </a:rPr>
              <a:t>Train Random Forest / XGBoost classifier for fit scoring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023360"/>
            <a:ext cx="5532120" cy="566928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72200" y="4023360"/>
            <a:ext cx="54864" cy="5669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4059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Sprint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29768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F"/>
                </a:solidFill>
              </a:rPr>
              <a:t>Build model evaluation framework (silhouette, F1, NDCG)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63440"/>
            <a:ext cx="5532120" cy="566928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4663440"/>
            <a:ext cx="54864" cy="5669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47000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Sprint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93776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F"/>
                </a:solidFill>
              </a:rPr>
              <a:t>Write unit tests + end-to-end tests for all API endpoints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4663440"/>
            <a:ext cx="5532120" cy="566928"/>
          </a:xfrm>
          <a:prstGeom prst="rect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72200" y="4663440"/>
            <a:ext cx="54864" cy="5669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60" y="47000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Sprint 4 (final)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93776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F"/>
                </a:solidFill>
              </a:rPr>
              <a:t>Final report, Swagger documentation, user guide, presentation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D4FF"/>
                </a:solidFill>
              </a:rPr>
              <a:t>Thank You  —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1653</Words>
  <Application>Microsoft Office PowerPoint</Application>
  <PresentationFormat>Custom</PresentationFormat>
  <Paragraphs>173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Pathan Ahemad</cp:lastModifiedBy>
  <cp:revision>5</cp:revision>
  <dcterms:created xsi:type="dcterms:W3CDTF">2013-01-27T09:14:16Z</dcterms:created>
  <dcterms:modified xsi:type="dcterms:W3CDTF">2026-03-09T01:52:54Z</dcterms:modified>
  <cp:category/>
</cp:coreProperties>
</file>